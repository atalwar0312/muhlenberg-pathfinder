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nton"/>
      <p:regular r:id="rId21"/>
    </p:embeddedFont>
    <p:embeddedFont>
      <p:font typeface="DM Sans Medium"/>
      <p:regular r:id="rId22"/>
      <p:bold r:id="rId23"/>
      <p:italic r:id="rId24"/>
      <p:boldItalic r:id="rId25"/>
    </p:embeddedFont>
    <p:embeddedFont>
      <p:font typeface="DM Sans SemiBold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DMSansMedium-regular.fntdata"/><Relationship Id="rId21" Type="http://schemas.openxmlformats.org/officeDocument/2006/relationships/font" Target="fonts/Anton-regular.fntdata"/><Relationship Id="rId24" Type="http://schemas.openxmlformats.org/officeDocument/2006/relationships/font" Target="fonts/DMSansMedium-italic.fntdata"/><Relationship Id="rId23" Type="http://schemas.openxmlformats.org/officeDocument/2006/relationships/font" Target="fonts/DM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SemiBold-regular.fntdata"/><Relationship Id="rId25" Type="http://schemas.openxmlformats.org/officeDocument/2006/relationships/font" Target="fonts/DMSansMedium-boldItalic.fntdata"/><Relationship Id="rId28" Type="http://schemas.openxmlformats.org/officeDocument/2006/relationships/font" Target="fonts/DMSansSemiBold-italic.fntdata"/><Relationship Id="rId27" Type="http://schemas.openxmlformats.org/officeDocument/2006/relationships/font" Target="fonts/DM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8da05b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8da05b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da05b8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8da05b8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8da05b87f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f8da05b87f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8da05b87f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8da05b87f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37dcb31da9a9f9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h37dcb31da9a9f9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37dcb31da9a9f97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h37dcb31da9a9f97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4e87093378c364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h4e87093378c364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8da05b87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8da05b8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8da05b87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8da05b87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O’glenn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8da05b87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8da05b87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37dcb31da9a9f97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h37dcb31da9a9f97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37dcb31da9a9f97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37dcb31da9a9f97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37dcb31da9a9f97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h37dcb31da9a9f97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O’glenn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37dcb31da9a9f97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37dcb31da9a9f97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O’glenn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da05b87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8da05b87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>
            <p:ph idx="3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3" name="Google Shape;23;p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2" name="Google Shape;62;p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0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0" name="Google Shape;90;p1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96" name="Google Shape;96;p13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3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3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3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00" name="Google Shape;100;p1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3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6" name="Google Shape;116;p1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4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3" name="Google Shape;123;p1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5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6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6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42" name="Google Shape;142;p1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6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54" name="Google Shape;154;p1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7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57" name="Google Shape;157;p17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17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9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9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19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6" name="Google Shape;176;p1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9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9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191" name="Google Shape;191;p20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4" name="Google Shape;194;p20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5" name="Google Shape;205;p21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0" name="Google Shape;210;p2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1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1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28" name="Google Shape;228;p22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3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23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24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2" name="Google Shape;262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3" name="Google Shape;2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7" name="Google Shape;27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6" name="Google Shape;306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3" name="Google Shape;313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5" name="Google Shape;31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6" name="Google Shape;326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" name="Google Shape;336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0" name="Google Shape;3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4" name="Google Shape;354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 txBox="1"/>
          <p:nvPr>
            <p:ph idx="1" type="subTitle"/>
          </p:nvPr>
        </p:nvSpPr>
        <p:spPr>
          <a:xfrm>
            <a:off x="709500" y="4712200"/>
            <a:ext cx="77250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 Talwar, Andrew Jarrah, O’glenn Togar, Hudson Plaskoff</a:t>
            </a:r>
            <a:endParaRPr/>
          </a:p>
        </p:txBody>
      </p:sp>
      <p:sp>
        <p:nvSpPr>
          <p:cNvPr id="376" name="Google Shape;376;p46"/>
          <p:cNvSpPr txBox="1"/>
          <p:nvPr>
            <p:ph idx="3" type="subTitle"/>
          </p:nvPr>
        </p:nvSpPr>
        <p:spPr>
          <a:xfrm>
            <a:off x="125625" y="630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September 29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, 2026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7" name="Google Shape;377;p46"/>
          <p:cNvSpPr txBox="1"/>
          <p:nvPr>
            <p:ph idx="4" type="subTitle"/>
          </p:nvPr>
        </p:nvSpPr>
        <p:spPr>
          <a:xfrm>
            <a:off x="5830275" y="630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CSI 210: Software Engineering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8" name="Google Shape;378;p46" title="PathFinder Logo Ideas.png"/>
          <p:cNvPicPr preferRelativeResize="0"/>
          <p:nvPr/>
        </p:nvPicPr>
        <p:blipFill rotWithShape="1">
          <a:blip r:embed="rId4">
            <a:alphaModFix/>
          </a:blip>
          <a:srcRect b="34207" l="0" r="0" t="33994"/>
          <a:stretch/>
        </p:blipFill>
        <p:spPr>
          <a:xfrm>
            <a:off x="785125" y="1385400"/>
            <a:ext cx="7797275" cy="247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idx="1" type="body"/>
          </p:nvPr>
        </p:nvSpPr>
        <p:spPr>
          <a:xfrm>
            <a:off x="125825" y="741750"/>
            <a:ext cx="36414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Core Problem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Solution (Our Project)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Users and Stakeholders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Key Features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Current Project Vision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Next Steps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Planning Materials</a:t>
            </a:r>
            <a:endParaRPr sz="2200"/>
          </a:p>
        </p:txBody>
      </p:sp>
      <p:sp>
        <p:nvSpPr>
          <p:cNvPr id="384" name="Google Shape;384;p47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385" name="Google Shape;385;p47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386" name="Google Shape;386;p47"/>
          <p:cNvSpPr txBox="1"/>
          <p:nvPr>
            <p:ph idx="5" type="subTitle"/>
          </p:nvPr>
        </p:nvSpPr>
        <p:spPr>
          <a:xfrm>
            <a:off x="125700" y="125600"/>
            <a:ext cx="2197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</a:t>
            </a:r>
            <a:endParaRPr sz="3000"/>
          </a:p>
        </p:txBody>
      </p:sp>
      <p:sp>
        <p:nvSpPr>
          <p:cNvPr id="387" name="Google Shape;38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/>
          <p:nvPr>
            <p:ph type="title"/>
          </p:nvPr>
        </p:nvSpPr>
        <p:spPr>
          <a:xfrm>
            <a:off x="125700" y="737333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Fragmented systems across Workday (course registration and tracking academic progress), the Muhlenberg Catalog (course of study overviews), and other resources intended for academic planning by students at Muhlenberg.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48"/>
          <p:cNvSpPr txBox="1"/>
          <p:nvPr>
            <p:ph idx="2" type="subTitle"/>
          </p:nvPr>
        </p:nvSpPr>
        <p:spPr>
          <a:xfrm>
            <a:off x="125700" y="125600"/>
            <a:ext cx="257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</a:t>
            </a:r>
            <a:endParaRPr sz="3000"/>
          </a:p>
        </p:txBody>
      </p:sp>
      <p:sp>
        <p:nvSpPr>
          <p:cNvPr id="394" name="Google Shape;39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48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396" name="Google Shape;396;p48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>
            <p:ph type="title"/>
          </p:nvPr>
        </p:nvSpPr>
        <p:spPr>
          <a:xfrm>
            <a:off x="393700" y="635800"/>
            <a:ext cx="38592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WORKDAY</a:t>
            </a:r>
            <a:endParaRPr/>
          </a:p>
        </p:txBody>
      </p:sp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4891050" y="635800"/>
            <a:ext cx="38592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CATALOG</a:t>
            </a:r>
            <a:endParaRPr/>
          </a:p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pic>
        <p:nvPicPr>
          <p:cNvPr id="405" name="Google Shape;405;p49" title="Screenshot 2026-09-15 at 9.43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735" y="1629884"/>
            <a:ext cx="3439134" cy="2408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6" name="Google Shape;406;p49" title="Screenshot 2026-09-15 at 9.44.5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864" y="1629882"/>
            <a:ext cx="3839566" cy="240809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7" name="Google Shape;407;p49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>
            <p:ph type="title"/>
          </p:nvPr>
        </p:nvSpPr>
        <p:spPr>
          <a:xfrm>
            <a:off x="2642400" y="590500"/>
            <a:ext cx="38592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WORKDAY</a:t>
            </a:r>
            <a:endParaRPr/>
          </a:p>
        </p:txBody>
      </p:sp>
      <p:sp>
        <p:nvSpPr>
          <p:cNvPr id="413" name="Google Shape;41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0"/>
          <p:cNvSpPr txBox="1"/>
          <p:nvPr>
            <p:ph idx="1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15" name="Google Shape;415;p5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416" name="Google Shape;416;p50" title="Screenshot 2026-09-28 at 6.20.29 PM.png"/>
          <p:cNvPicPr preferRelativeResize="0"/>
          <p:nvPr/>
        </p:nvPicPr>
        <p:blipFill rotWithShape="1">
          <a:blip r:embed="rId3">
            <a:alphaModFix/>
          </a:blip>
          <a:srcRect b="0" l="1117" r="0" t="16367"/>
          <a:stretch/>
        </p:blipFill>
        <p:spPr>
          <a:xfrm>
            <a:off x="201900" y="1840200"/>
            <a:ext cx="8740200" cy="146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/>
          <p:nvPr>
            <p:ph type="title"/>
          </p:nvPr>
        </p:nvSpPr>
        <p:spPr>
          <a:xfrm>
            <a:off x="1244100" y="600150"/>
            <a:ext cx="66558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IMPROVISED SOLUTIONS</a:t>
            </a:r>
            <a:endParaRPr/>
          </a:p>
        </p:txBody>
      </p:sp>
      <p:sp>
        <p:nvSpPr>
          <p:cNvPr id="422" name="Google Shape;422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51"/>
          <p:cNvSpPr txBox="1"/>
          <p:nvPr>
            <p:ph idx="1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24" name="Google Shape;424;p5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425" name="Google Shape;425;p51" title="Screenshot 2026-09-28 at 6.48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25" y="1630000"/>
            <a:ext cx="8544550" cy="1883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/>
          <p:nvPr>
            <p:ph type="title"/>
          </p:nvPr>
        </p:nvSpPr>
        <p:spPr>
          <a:xfrm>
            <a:off x="125700" y="737333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Unified and informative system for tracking your academic progress that is easily accessible to both students and advisors.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52"/>
          <p:cNvSpPr txBox="1"/>
          <p:nvPr>
            <p:ph idx="2" type="subTitle"/>
          </p:nvPr>
        </p:nvSpPr>
        <p:spPr>
          <a:xfrm>
            <a:off x="125700" y="125600"/>
            <a:ext cx="257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SOLUTION</a:t>
            </a:r>
            <a:r>
              <a:rPr lang="en" sz="3000"/>
              <a:t> </a:t>
            </a:r>
            <a:endParaRPr sz="3000"/>
          </a:p>
        </p:txBody>
      </p:sp>
      <p:sp>
        <p:nvSpPr>
          <p:cNvPr id="432" name="Google Shape;432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2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34" name="Google Shape;434;p52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/>
          <p:nvPr>
            <p:ph idx="5" type="subTitle"/>
          </p:nvPr>
        </p:nvSpPr>
        <p:spPr>
          <a:xfrm>
            <a:off x="4282800" y="52755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progress</a:t>
            </a:r>
            <a:endParaRPr/>
          </a:p>
        </p:txBody>
      </p:sp>
      <p:sp>
        <p:nvSpPr>
          <p:cNvPr id="440" name="Google Shape;440;p53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</a:t>
            </a:r>
            <a:endParaRPr/>
          </a:p>
        </p:txBody>
      </p:sp>
      <p:sp>
        <p:nvSpPr>
          <p:cNvPr id="441" name="Google Shape;441;p53"/>
          <p:cNvSpPr txBox="1"/>
          <p:nvPr>
            <p:ph idx="6" type="subTitle"/>
          </p:nvPr>
        </p:nvSpPr>
        <p:spPr>
          <a:xfrm>
            <a:off x="4282800" y="192615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Advisee progress</a:t>
            </a:r>
            <a:endParaRPr/>
          </a:p>
        </p:txBody>
      </p:sp>
      <p:sp>
        <p:nvSpPr>
          <p:cNvPr id="442" name="Google Shape;442;p53"/>
          <p:cNvSpPr txBox="1"/>
          <p:nvPr>
            <p:ph idx="7" type="subTitle"/>
          </p:nvPr>
        </p:nvSpPr>
        <p:spPr>
          <a:xfrm>
            <a:off x="4282800" y="331740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School-wide progress</a:t>
            </a:r>
            <a:endParaRPr/>
          </a:p>
        </p:txBody>
      </p:sp>
      <p:sp>
        <p:nvSpPr>
          <p:cNvPr id="443" name="Google Shape;443;p53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ADVISORS</a:t>
            </a:r>
            <a:endParaRPr/>
          </a:p>
        </p:txBody>
      </p:sp>
      <p:sp>
        <p:nvSpPr>
          <p:cNvPr id="444" name="Google Shape;444;p53"/>
          <p:cNvSpPr txBox="1"/>
          <p:nvPr>
            <p:ph idx="4" type="title"/>
          </p:nvPr>
        </p:nvSpPr>
        <p:spPr>
          <a:xfrm>
            <a:off x="129375" y="3317475"/>
            <a:ext cx="39813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ADMINISTRATION</a:t>
            </a:r>
            <a:endParaRPr/>
          </a:p>
        </p:txBody>
      </p:sp>
      <p:sp>
        <p:nvSpPr>
          <p:cNvPr id="445" name="Google Shape;44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53"/>
          <p:cNvSpPr txBox="1"/>
          <p:nvPr>
            <p:ph idx="8" type="subTitle"/>
          </p:nvPr>
        </p:nvSpPr>
        <p:spPr>
          <a:xfrm>
            <a:off x="125700" y="125600"/>
            <a:ext cx="5100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STAKEHOLDERS</a:t>
            </a:r>
            <a:endParaRPr sz="3000"/>
          </a:p>
        </p:txBody>
      </p:sp>
      <p:sp>
        <p:nvSpPr>
          <p:cNvPr id="447" name="Google Shape;447;p53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448" name="Google Shape;448;p53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4"/>
          <p:cNvSpPr txBox="1"/>
          <p:nvPr>
            <p:ph idx="14" type="body"/>
          </p:nvPr>
        </p:nvSpPr>
        <p:spPr>
          <a:xfrm>
            <a:off x="1933414" y="330490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Finding overlap between your current and possible areas of study to find the </a:t>
            </a:r>
            <a:r>
              <a:rPr lang="en"/>
              <a:t>easiest</a:t>
            </a:r>
            <a:r>
              <a:rPr lang="en"/>
              <a:t> possibilities for declaring a new major or minor.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p54"/>
          <p:cNvSpPr txBox="1"/>
          <p:nvPr>
            <p:ph idx="7" type="subTitle"/>
          </p:nvPr>
        </p:nvSpPr>
        <p:spPr>
          <a:xfrm>
            <a:off x="3741949" y="2935350"/>
            <a:ext cx="15798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Student Info Card</a:t>
            </a:r>
            <a:endParaRPr sz="1200"/>
          </a:p>
        </p:txBody>
      </p:sp>
      <p:sp>
        <p:nvSpPr>
          <p:cNvPr id="455" name="Google Shape;455;p54"/>
          <p:cNvSpPr txBox="1"/>
          <p:nvPr>
            <p:ph idx="8" type="subTitle"/>
          </p:nvPr>
        </p:nvSpPr>
        <p:spPr>
          <a:xfrm>
            <a:off x="5545621" y="2935350"/>
            <a:ext cx="15819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HAL Chatbot</a:t>
            </a:r>
            <a:endParaRPr sz="1200"/>
          </a:p>
        </p:txBody>
      </p:sp>
      <p:sp>
        <p:nvSpPr>
          <p:cNvPr id="456" name="Google Shape;456;p54"/>
          <p:cNvSpPr txBox="1"/>
          <p:nvPr>
            <p:ph idx="6" type="subTitle"/>
          </p:nvPr>
        </p:nvSpPr>
        <p:spPr>
          <a:xfrm>
            <a:off x="1932388" y="2935350"/>
            <a:ext cx="158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Opportunity Finder</a:t>
            </a:r>
            <a:endParaRPr sz="1200"/>
          </a:p>
        </p:txBody>
      </p:sp>
      <p:sp>
        <p:nvSpPr>
          <p:cNvPr id="457" name="Google Shape;457;p54"/>
          <p:cNvSpPr txBox="1"/>
          <p:nvPr>
            <p:ph idx="2" type="title"/>
          </p:nvPr>
        </p:nvSpPr>
        <p:spPr>
          <a:xfrm>
            <a:off x="379850" y="21521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4"/>
          <p:cNvSpPr txBox="1"/>
          <p:nvPr>
            <p:ph idx="3" type="title"/>
          </p:nvPr>
        </p:nvSpPr>
        <p:spPr>
          <a:xfrm>
            <a:off x="1933425" y="2152125"/>
            <a:ext cx="1931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FR-2</a:t>
            </a:r>
            <a:endParaRPr/>
          </a:p>
        </p:txBody>
      </p:sp>
      <p:sp>
        <p:nvSpPr>
          <p:cNvPr id="459" name="Google Shape;459;p54"/>
          <p:cNvSpPr txBox="1"/>
          <p:nvPr>
            <p:ph idx="4" type="title"/>
          </p:nvPr>
        </p:nvSpPr>
        <p:spPr>
          <a:xfrm>
            <a:off x="3738500" y="21521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FR-3</a:t>
            </a:r>
            <a:endParaRPr/>
          </a:p>
        </p:txBody>
      </p:sp>
      <p:sp>
        <p:nvSpPr>
          <p:cNvPr id="460" name="Google Shape;460;p54"/>
          <p:cNvSpPr txBox="1"/>
          <p:nvPr>
            <p:ph idx="1" type="subTitle"/>
          </p:nvPr>
        </p:nvSpPr>
        <p:spPr>
          <a:xfrm>
            <a:off x="334213" y="2935350"/>
            <a:ext cx="1468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Course Progress</a:t>
            </a:r>
            <a:endParaRPr sz="1200"/>
          </a:p>
        </p:txBody>
      </p:sp>
      <p:sp>
        <p:nvSpPr>
          <p:cNvPr id="461" name="Google Shape;461;p54"/>
          <p:cNvSpPr txBox="1"/>
          <p:nvPr>
            <p:ph idx="5" type="title"/>
          </p:nvPr>
        </p:nvSpPr>
        <p:spPr>
          <a:xfrm>
            <a:off x="5546584" y="21521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FR-4</a:t>
            </a:r>
            <a:endParaRPr/>
          </a:p>
        </p:txBody>
      </p:sp>
      <p:sp>
        <p:nvSpPr>
          <p:cNvPr id="462" name="Google Shape;462;p54"/>
          <p:cNvSpPr txBox="1"/>
          <p:nvPr>
            <p:ph idx="9" type="body"/>
          </p:nvPr>
        </p:nvSpPr>
        <p:spPr>
          <a:xfrm>
            <a:off x="5545613" y="3304900"/>
            <a:ext cx="16722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Easier way to interpret or query information about Muhlenberg’s course offerings, areas of study, or your specific </a:t>
            </a:r>
            <a:r>
              <a:rPr lang="en"/>
              <a:t>progress.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54"/>
          <p:cNvSpPr txBox="1"/>
          <p:nvPr>
            <p:ph idx="13" type="body"/>
          </p:nvPr>
        </p:nvSpPr>
        <p:spPr>
          <a:xfrm>
            <a:off x="335163" y="330490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Checking progress of the c</a:t>
            </a:r>
            <a:r>
              <a:rPr lang="en"/>
              <a:t>ourses required to complete  your declared area(s) of study.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54"/>
          <p:cNvSpPr txBox="1"/>
          <p:nvPr>
            <p:ph idx="15" type="body"/>
          </p:nvPr>
        </p:nvSpPr>
        <p:spPr>
          <a:xfrm>
            <a:off x="3742425" y="3304900"/>
            <a:ext cx="16722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Quick view of relevant student information, including your declared area(s) of study, GPA, advisor, and more.</a:t>
            </a:r>
            <a:endParaRPr/>
          </a:p>
        </p:txBody>
      </p:sp>
      <p:sp>
        <p:nvSpPr>
          <p:cNvPr id="465" name="Google Shape;46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54"/>
          <p:cNvSpPr txBox="1"/>
          <p:nvPr>
            <p:ph idx="7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467" name="Google Shape;467;p54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468" name="Google Shape;468;p54"/>
          <p:cNvSpPr txBox="1"/>
          <p:nvPr>
            <p:ph idx="8" type="subTitle"/>
          </p:nvPr>
        </p:nvSpPr>
        <p:spPr>
          <a:xfrm>
            <a:off x="7217696" y="2935350"/>
            <a:ext cx="15819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/>
              <a:t>Advisee View</a:t>
            </a:r>
            <a:endParaRPr sz="1200"/>
          </a:p>
        </p:txBody>
      </p:sp>
      <p:sp>
        <p:nvSpPr>
          <p:cNvPr id="469" name="Google Shape;469;p54"/>
          <p:cNvSpPr txBox="1"/>
          <p:nvPr>
            <p:ph idx="5" type="title"/>
          </p:nvPr>
        </p:nvSpPr>
        <p:spPr>
          <a:xfrm>
            <a:off x="7218659" y="21521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FR-5</a:t>
            </a:r>
            <a:endParaRPr/>
          </a:p>
        </p:txBody>
      </p:sp>
      <p:sp>
        <p:nvSpPr>
          <p:cNvPr id="470" name="Google Shape;470;p54"/>
          <p:cNvSpPr txBox="1"/>
          <p:nvPr>
            <p:ph idx="9" type="body"/>
          </p:nvPr>
        </p:nvSpPr>
        <p:spPr>
          <a:xfrm>
            <a:off x="7217700" y="3304900"/>
            <a:ext cx="15345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Display multiple advisees at the same time for easier ongoing reviews of academic progress.</a:t>
            </a:r>
            <a:endParaRPr/>
          </a:p>
        </p:txBody>
      </p:sp>
      <p:sp>
        <p:nvSpPr>
          <p:cNvPr id="471" name="Google Shape;471;p54"/>
          <p:cNvSpPr txBox="1"/>
          <p:nvPr>
            <p:ph idx="4294967295" type="subTitle"/>
          </p:nvPr>
        </p:nvSpPr>
        <p:spPr>
          <a:xfrm>
            <a:off x="125700" y="125600"/>
            <a:ext cx="5100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KEY FEATURES</a:t>
            </a:r>
            <a:endParaRPr b="1" sz="30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type="title"/>
          </p:nvPr>
        </p:nvSpPr>
        <p:spPr>
          <a:xfrm>
            <a:off x="125688" y="86477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CEO</a:t>
            </a:r>
            <a:endParaRPr/>
          </a:p>
        </p:txBody>
      </p:sp>
      <p:sp>
        <p:nvSpPr>
          <p:cNvPr id="477" name="Google Shape;477;p55"/>
          <p:cNvSpPr txBox="1"/>
          <p:nvPr>
            <p:ph idx="8" type="subTitle"/>
          </p:nvPr>
        </p:nvSpPr>
        <p:spPr>
          <a:xfrm>
            <a:off x="125688" y="3162187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 Talwar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cleaning</a:t>
            </a:r>
            <a:r>
              <a:rPr lang="en"/>
              <a:t> and </a:t>
            </a:r>
            <a:r>
              <a:rPr lang="en"/>
              <a:t>refinement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Overall structure and compilation</a:t>
            </a:r>
            <a:endParaRPr/>
          </a:p>
        </p:txBody>
      </p:sp>
      <p:sp>
        <p:nvSpPr>
          <p:cNvPr id="478" name="Google Shape;478;p55"/>
          <p:cNvSpPr txBox="1"/>
          <p:nvPr>
            <p:ph idx="13" type="subTitle"/>
          </p:nvPr>
        </p:nvSpPr>
        <p:spPr>
          <a:xfrm>
            <a:off x="2393625" y="316218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Andrew Jarrah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Front end Via 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p55"/>
          <p:cNvSpPr txBox="1"/>
          <p:nvPr>
            <p:ph idx="15" type="subTitle"/>
          </p:nvPr>
        </p:nvSpPr>
        <p:spPr>
          <a:xfrm>
            <a:off x="4661525" y="316218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O’glenn Togar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Researching </a:t>
            </a:r>
            <a:r>
              <a:rPr lang="en"/>
              <a:t>backend</a:t>
            </a:r>
            <a:r>
              <a:rPr lang="en"/>
              <a:t> software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55"/>
          <p:cNvSpPr txBox="1"/>
          <p:nvPr>
            <p:ph idx="17" type="subTitle"/>
          </p:nvPr>
        </p:nvSpPr>
        <p:spPr>
          <a:xfrm>
            <a:off x="6929425" y="316218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Hudson Plaskoff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Registrar’s office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Course sheet</a:t>
            </a:r>
            <a:endParaRPr/>
          </a:p>
        </p:txBody>
      </p:sp>
      <p:sp>
        <p:nvSpPr>
          <p:cNvPr id="481" name="Google Shape;481;p55"/>
          <p:cNvSpPr txBox="1"/>
          <p:nvPr>
            <p:ph type="title"/>
          </p:nvPr>
        </p:nvSpPr>
        <p:spPr>
          <a:xfrm>
            <a:off x="2393613" y="86477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</a:t>
            </a:r>
            <a:endParaRPr/>
          </a:p>
        </p:txBody>
      </p:sp>
      <p:sp>
        <p:nvSpPr>
          <p:cNvPr id="482" name="Google Shape;482;p55"/>
          <p:cNvSpPr txBox="1"/>
          <p:nvPr>
            <p:ph type="title"/>
          </p:nvPr>
        </p:nvSpPr>
        <p:spPr>
          <a:xfrm>
            <a:off x="4661525" y="86477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Back-End</a:t>
            </a:r>
            <a:endParaRPr/>
          </a:p>
        </p:txBody>
      </p:sp>
      <p:sp>
        <p:nvSpPr>
          <p:cNvPr id="483" name="Google Shape;483;p55"/>
          <p:cNvSpPr txBox="1"/>
          <p:nvPr>
            <p:ph type="title"/>
          </p:nvPr>
        </p:nvSpPr>
        <p:spPr>
          <a:xfrm>
            <a:off x="6929400" y="86477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484" name="Google Shape;484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5"/>
          <p:cNvSpPr txBox="1"/>
          <p:nvPr>
            <p:ph idx="15" type="subTitle"/>
          </p:nvPr>
        </p:nvSpPr>
        <p:spPr>
          <a:xfrm>
            <a:off x="125700" y="125600"/>
            <a:ext cx="557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CURRENT </a:t>
            </a: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TEAM </a:t>
            </a: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PROGRESS</a:t>
            </a:r>
            <a:endParaRPr b="1"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6" name="Google Shape;486;p55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487" name="Google Shape;487;p55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488" name="Google Shape;4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632" y="1579549"/>
            <a:ext cx="1778150" cy="177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7113" y="1384013"/>
            <a:ext cx="1778150" cy="177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9577" y="1463175"/>
            <a:ext cx="1470075" cy="1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71350" y="1463175"/>
            <a:ext cx="1470075" cy="1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56"/>
          <p:cNvSpPr txBox="1"/>
          <p:nvPr>
            <p:ph idx="15" type="subTitle"/>
          </p:nvPr>
        </p:nvSpPr>
        <p:spPr>
          <a:xfrm>
            <a:off x="125700" y="125600"/>
            <a:ext cx="557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FRONT-END (JAVASCRIPT)</a:t>
            </a:r>
            <a:endParaRPr b="1"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8" name="Google Shape;498;p56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499" name="Google Shape;499;p56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00" name="Google Shape;500;p56"/>
          <p:cNvPicPr preferRelativeResize="0"/>
          <p:nvPr/>
        </p:nvPicPr>
        <p:blipFill rotWithShape="1">
          <a:blip r:embed="rId3">
            <a:alphaModFix/>
          </a:blip>
          <a:srcRect b="1558" l="0" r="0" t="11402"/>
          <a:stretch/>
        </p:blipFill>
        <p:spPr>
          <a:xfrm>
            <a:off x="1391150" y="1144875"/>
            <a:ext cx="6360275" cy="285310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57"/>
          <p:cNvSpPr txBox="1"/>
          <p:nvPr>
            <p:ph idx="15" type="subTitle"/>
          </p:nvPr>
        </p:nvSpPr>
        <p:spPr>
          <a:xfrm>
            <a:off x="125700" y="125600"/>
            <a:ext cx="557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VISION</a:t>
            </a:r>
            <a:endParaRPr b="1"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7" name="Google Shape;507;p57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508" name="Google Shape;508;p57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09" name="Google Shape;509;p57" title="Screenshot 2026-09-28 at 6.35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200" y="625750"/>
            <a:ext cx="5273033" cy="389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8"/>
          <p:cNvSpPr txBox="1"/>
          <p:nvPr>
            <p:ph idx="5" type="subTitle"/>
          </p:nvPr>
        </p:nvSpPr>
        <p:spPr>
          <a:xfrm>
            <a:off x="4282800" y="52755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Continuing to work on the dashboard view</a:t>
            </a:r>
            <a:endParaRPr sz="1800"/>
          </a:p>
        </p:txBody>
      </p:sp>
      <p:sp>
        <p:nvSpPr>
          <p:cNvPr id="515" name="Google Shape;515;p58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</a:t>
            </a:r>
            <a:endParaRPr/>
          </a:p>
        </p:txBody>
      </p:sp>
      <p:sp>
        <p:nvSpPr>
          <p:cNvPr id="516" name="Google Shape;516;p58"/>
          <p:cNvSpPr txBox="1"/>
          <p:nvPr>
            <p:ph idx="6" type="subTitle"/>
          </p:nvPr>
        </p:nvSpPr>
        <p:spPr>
          <a:xfrm>
            <a:off x="4282800" y="192615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Researching and understanding the implementation</a:t>
            </a:r>
            <a:endParaRPr sz="1800"/>
          </a:p>
        </p:txBody>
      </p:sp>
      <p:sp>
        <p:nvSpPr>
          <p:cNvPr id="517" name="Google Shape;517;p58"/>
          <p:cNvSpPr txBox="1"/>
          <p:nvPr>
            <p:ph idx="7" type="subTitle"/>
          </p:nvPr>
        </p:nvSpPr>
        <p:spPr>
          <a:xfrm>
            <a:off x="4282800" y="331740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800"/>
              <a:t>Unified format for </a:t>
            </a:r>
            <a:r>
              <a:rPr lang="en" sz="1800"/>
              <a:t>data and SQLite database</a:t>
            </a:r>
            <a:endParaRPr sz="1800"/>
          </a:p>
        </p:txBody>
      </p:sp>
      <p:sp>
        <p:nvSpPr>
          <p:cNvPr id="518" name="Google Shape;518;p58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BACK-END</a:t>
            </a:r>
            <a:endParaRPr/>
          </a:p>
        </p:txBody>
      </p:sp>
      <p:sp>
        <p:nvSpPr>
          <p:cNvPr id="519" name="Google Shape;519;p58"/>
          <p:cNvSpPr txBox="1"/>
          <p:nvPr>
            <p:ph idx="4" type="title"/>
          </p:nvPr>
        </p:nvSpPr>
        <p:spPr>
          <a:xfrm>
            <a:off x="129375" y="3317475"/>
            <a:ext cx="39813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520" name="Google Shape;520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58"/>
          <p:cNvSpPr txBox="1"/>
          <p:nvPr>
            <p:ph idx="8" type="subTitle"/>
          </p:nvPr>
        </p:nvSpPr>
        <p:spPr>
          <a:xfrm>
            <a:off x="125700" y="125600"/>
            <a:ext cx="5100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NEXT STEPS</a:t>
            </a:r>
            <a:endParaRPr sz="3000"/>
          </a:p>
        </p:txBody>
      </p:sp>
      <p:sp>
        <p:nvSpPr>
          <p:cNvPr id="522" name="Google Shape;522;p58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523" name="Google Shape;523;p58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59"/>
          <p:cNvSpPr txBox="1"/>
          <p:nvPr>
            <p:ph idx="15" type="subTitle"/>
          </p:nvPr>
        </p:nvSpPr>
        <p:spPr>
          <a:xfrm>
            <a:off x="125700" y="125600"/>
            <a:ext cx="557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PLANNING MATERIALS</a:t>
            </a:r>
            <a:endParaRPr b="1"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0" name="Google Shape;530;p59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531" name="Google Shape;531;p59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800">
                <a:latin typeface="DM Sans SemiBold"/>
                <a:ea typeface="DM Sans SemiBold"/>
                <a:cs typeface="DM Sans SemiBold"/>
                <a:sym typeface="DM Sans SemiBold"/>
              </a:rPr>
              <a:t>September 29,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32" name="Google Shape;532;p59" title="Screenshot 2026-09-28 at 6.32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375" y="923649"/>
            <a:ext cx="2665219" cy="350898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3" name="Google Shape;533;p59" title="Screenshot 2026-09-28 at 6.33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14" y="923641"/>
            <a:ext cx="2665219" cy="350898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4" name="Google Shape;534;p59" title="Screenshot 2026-09-28 at 6.33.5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5554" y="923650"/>
            <a:ext cx="2665219" cy="35089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5" name="Google Shape;535;p59"/>
          <p:cNvSpPr/>
          <p:nvPr/>
        </p:nvSpPr>
        <p:spPr>
          <a:xfrm>
            <a:off x="7307750" y="1313050"/>
            <a:ext cx="362100" cy="14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 txBox="1"/>
          <p:nvPr>
            <p:ph type="title"/>
          </p:nvPr>
        </p:nvSpPr>
        <p:spPr>
          <a:xfrm>
            <a:off x="1578300" y="230430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Thank You!</a:t>
            </a:r>
            <a:endParaRPr sz="1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FCEB00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