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Internal Server Architecture | UML Class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Chosen architecture: Layered  •  Current Node.js / Express backend prototype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1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1568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01568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BUSINESS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17336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PERSISTENCE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33104" y="1581912"/>
            <a:ext cx="2377440" cy="374904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F8F8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1655064"/>
            <a:ext cx="2377440" cy="201168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DATA FIXTURE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5800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StudentRoutes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/:id/profile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/:id/progress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 /:id/opportunities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01568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01568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StudentController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getProfile(req,res)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getProgress(req,res)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getOpportunities(req,res)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17336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17336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81928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StudentService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1928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getProfile(id)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getProgress(id)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getOpportunities(id)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33104" y="2157984"/>
            <a:ext cx="2377440" cy="2103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833104" y="2157984"/>
            <a:ext cx="59436" cy="210312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97696" y="2267712"/>
            <a:ext cx="2093976" cy="31089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2B3037"/>
                </a:solidFill>
                <a:latin typeface="Aptos"/>
              </a:defRPr>
            </a:pPr>
            <a:r>
              <a:t>StudentRepository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97696" y="2660904"/>
            <a:ext cx="2093976" cy="1572767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findStudentById(id)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findProgramsByNames(names)</a:t>
            </a:r>
          </a:p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+ findAllPrograms()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3240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79008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94776" y="2944368"/>
            <a:ext cx="41148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900" b="1">
                <a:solidFill>
                  <a:srgbClr val="A6192E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749039" y="4599432"/>
            <a:ext cx="4690872" cy="667512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58768" y="4700016"/>
            <a:ext cx="4480560" cy="42062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ctr">
              <a:spcAft>
                <a:spcPts val="300"/>
              </a:spcAft>
              <a:defRPr sz="1600" b="1">
                <a:solidFill>
                  <a:srgbClr val="2B3037"/>
                </a:solidFill>
                <a:latin typeface="Aptos"/>
              </a:defRPr>
            </a:pPr>
            <a:r>
              <a:t>DemoData: students[] and programs[]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25128" y="4416552"/>
            <a:ext cx="192024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000" b="0">
                <a:solidFill>
                  <a:srgbClr val="686F78"/>
                </a:solidFill>
                <a:latin typeface="Aptos"/>
              </a:defRPr>
            </a:pPr>
            <a:r>
              <a:t>reads fixture 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" y="5742432"/>
            <a:ext cx="10652760" cy="402336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300" b="0">
                <a:solidFill>
                  <a:srgbClr val="686F78"/>
                </a:solidFill>
                <a:latin typeface="Aptos"/>
              </a:defRPr>
            </a:pPr>
            <a:r>
              <a:t>The repository isolates data access. The current implementation uses fictional in-memory data; a SQL database is not connected.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GitHub / Project 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Verified in branch: assignment-5-layered-server  •  commit b75d653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2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5760720" cy="452628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1819656"/>
            <a:ext cx="5358384" cy="41605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pathfinder/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├── frontend/UI/              existing browser prototype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└── backend/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app.js                 Express entry point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routes/students.js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controllers/studentController.js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services/studentService.js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repositories/studentRepository.js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data/demoData.js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├── package.json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    └── package-lock.json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tests/backend.test.js</a:t>
            </a:r>
          </a:p>
          <a:p>
            <a:pPr>
              <a:spcAft>
                <a:spcPts val="300"/>
              </a:spcAft>
              <a:defRPr sz="1400" b="0">
                <a:solidFill>
                  <a:srgbClr val="2B3037"/>
                </a:solidFill>
                <a:latin typeface="Aptos Mono"/>
              </a:defRPr>
            </a:pPr>
            <a:r>
              <a:t>docs/diagrams/assignment-05-class-diagram.md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02552" y="1664208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85432" y="1773936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Request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1" y="1755648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routes/ maps URLs; controllers/ handles incoming requests and JSON responses.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02552" y="2724912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85432" y="2834640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Business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2816352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services/ calculates course progress, credits, and ranked opportunities.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02552" y="3785615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85432" y="3895344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Persistence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3877055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repositories/ is the sole access point for student and program records.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02552" y="4846320"/>
            <a:ext cx="4818888" cy="91440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85432" y="4956048"/>
            <a:ext cx="138988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A6192E"/>
                </a:solidFill>
                <a:latin typeface="Aptos"/>
              </a:defRPr>
            </a:pPr>
            <a:r>
              <a:t>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937759"/>
            <a:ext cx="3035808" cy="6675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2B3037"/>
                </a:solidFill>
                <a:latin typeface="Aptos"/>
              </a:defRPr>
            </a:pPr>
            <a:r>
              <a:t>data/demoData.js supplies temporary fictional fixtures instead of a database.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A6192E"/>
          </a:solidFill>
          <a:ln w="8890">
            <a:solidFill>
              <a:srgbClr val="A619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"/>
            <a:ext cx="82296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6192E"/>
                </a:solidFill>
                <a:latin typeface="Aptos"/>
              </a:defRPr>
            </a:pPr>
            <a:r>
              <a:t>PATHFINDER  /  SOFTWARE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972800" cy="43891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2800" b="1">
                <a:solidFill>
                  <a:srgbClr val="2B3037"/>
                </a:solidFill>
                <a:latin typeface="Aptos"/>
              </a:defRPr>
            </a:pPr>
            <a:r>
              <a:t>Feature Mapping | Request Through Layers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33856"/>
            <a:ext cx="10972800" cy="27432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0">
                <a:solidFill>
                  <a:srgbClr val="686F78"/>
                </a:solidFill>
                <a:latin typeface="Aptos"/>
              </a:defRPr>
            </a:pPr>
            <a:r>
              <a:t>Three implemented backend endpoints  •  All three included backend tests passed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76072" y="6409944"/>
            <a:ext cx="11018520" cy="10972"/>
          </a:xfrm>
          <a:prstGeom prst="rect">
            <a:avLst/>
          </a:prstGeom>
          <a:solidFill>
            <a:srgbClr val="DCDFE2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548640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ASSIGNMENT 5  •  OCTOBER 29,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5952" y="6473952"/>
            <a:ext cx="548640" cy="182880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 algn="r">
              <a:spcAft>
                <a:spcPts val="300"/>
              </a:spcAft>
              <a:defRPr sz="900" b="0">
                <a:solidFill>
                  <a:srgbClr val="686F78"/>
                </a:solidFill>
                <a:latin typeface="Aptos"/>
              </a:defRPr>
            </a:pPr>
            <a:r>
              <a:t>3 /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673352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9536" y="1801368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t>FR-3  Student Information 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2139696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2B3037"/>
                </a:solidFill>
                <a:latin typeface="Aptos Mono"/>
              </a:defRPr>
            </a:pPr>
            <a:r>
              <a:t>GET /api/students/demo/profile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97096" y="1810512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B3037"/>
                </a:solidFill>
                <a:latin typeface="Aptos"/>
              </a:defRPr>
            </a:pPr>
            <a:r>
              <a:t>Route  →  StudentController  →  StudentService  →  StudentRepository  →  DemoData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97096" y="2194560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getProfile()  —  Returns sample name, class year, declared majors/minors, school ID.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072384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3200400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t>FR-1  Progress 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" y="3538728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2B3037"/>
                </a:solidFill>
                <a:latin typeface="Aptos Mono"/>
              </a:defRPr>
            </a:pPr>
            <a:r>
              <a:t>GET /api/students/demo/progress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97096" y="3209544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B3037"/>
                </a:solidFill>
                <a:latin typeface="Aptos"/>
              </a:defRPr>
            </a:pPr>
            <a:r>
              <a:t>Route  →  StudentController  →  StudentService  →  StudentRepository  →  DemoData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7096" y="3593592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getProgress()  —  Counts completed/remaining program requirements and earned credits.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471416"/>
            <a:ext cx="10881360" cy="1188720"/>
          </a:xfrm>
          <a:prstGeom prst="roundRect">
            <a:avLst/>
          </a:prstGeom>
          <a:solidFill>
            <a:srgbClr val="F8F8F9"/>
          </a:solidFill>
          <a:ln w="8890">
            <a:solidFill>
              <a:srgbClr val="DCDF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" y="4599432"/>
            <a:ext cx="3200400" cy="283464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600" b="1">
                <a:solidFill>
                  <a:srgbClr val="A6192E"/>
                </a:solidFill>
                <a:latin typeface="Aptos"/>
              </a:defRPr>
            </a:pPr>
            <a:r>
              <a:t>FR-2  Opportunity Finder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937760"/>
            <a:ext cx="3264408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2B3037"/>
                </a:solidFill>
                <a:latin typeface="Aptos Mono"/>
              </a:defRPr>
            </a:pPr>
            <a:r>
              <a:t>GET /api/students/demo/opportunities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97096" y="4608576"/>
            <a:ext cx="7040880" cy="30175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2B3037"/>
                </a:solidFill>
                <a:latin typeface="Aptos"/>
              </a:defRPr>
            </a:pPr>
            <a:r>
              <a:t>Route  →  StudentController  →  StudentService  →  StudentRepository  →  DemoData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97096" y="4992624"/>
            <a:ext cx="7004304" cy="4846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50" b="0">
                <a:solidFill>
                  <a:srgbClr val="686F78"/>
                </a:solidFill>
                <a:latin typeface="Aptos"/>
              </a:defRPr>
            </a:pPr>
            <a:r>
              <a:t>getOpportunities()  —  Ranks up to five eligible major/minor suggestions by course overlap.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5998464"/>
            <a:ext cx="10881360" cy="256032"/>
          </a:xfrm>
          <a:prstGeom prst="rect">
            <a:avLst/>
          </a:prstGeom>
          <a:noFill/>
        </p:spPr>
        <p:txBody>
          <a:bodyPr wrap="square" lIns="18288" tIns="13716" rIns="18288">
            <a:spAutoFit/>
          </a:bodyPr>
          <a:lstStyle/>
          <a:p>
            <a:pPr>
              <a:spcAft>
                <a:spcPts val="300"/>
              </a:spcAft>
              <a:defRPr sz="1100" b="0">
                <a:solidFill>
                  <a:srgbClr val="686F78"/>
                </a:solidFill>
                <a:latin typeface="Aptos"/>
              </a:defRPr>
            </a:pPr>
            <a:r>
              <a:t>Current scope: JSON API prototype, not yet integrated with the frontend, authentication, or a production database.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