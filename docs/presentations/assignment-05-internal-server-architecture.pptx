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>
        <p:scale>
          <a:sx n="161" d="100"/>
          <a:sy n="161" d="100"/>
        </p:scale>
        <p:origin x="-7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6192E"/>
          </a:solidFill>
          <a:ln w="8890"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9294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A6192E"/>
                </a:solidFill>
                <a:latin typeface="Aptos"/>
              </a:defRPr>
            </a:pPr>
            <a:r>
              <a:rPr dirty="0"/>
              <a:t>PATHFINDER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3891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2B3037"/>
                </a:solidFill>
                <a:latin typeface="Aptos"/>
              </a:defRPr>
            </a:pPr>
            <a:r>
              <a:t>Internal Server Architecture | UML 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0972800" cy="274320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86F78"/>
                </a:solidFill>
                <a:latin typeface="Aptos"/>
              </a:defRPr>
            </a:pPr>
            <a:r>
              <a:t>Chosen architecture: Layered  •  Current Node.js / Express backend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409944"/>
            <a:ext cx="11018520" cy="10972"/>
          </a:xfrm>
          <a:prstGeom prst="rect">
            <a:avLst/>
          </a:prstGeom>
          <a:solidFill>
            <a:srgbClr val="DCDFE2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686F78"/>
                </a:solidFill>
                <a:latin typeface="Aptos"/>
              </a:defRPr>
            </a:pPr>
            <a:r>
              <a:t>ASSIGNMENT 5  •  OCTOBER 29,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73952"/>
            <a:ext cx="548640" cy="182880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686F78"/>
                </a:solidFill>
                <a:latin typeface="Aptos"/>
              </a:defRPr>
            </a:pPr>
            <a:r>
              <a:t>1 /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81912"/>
            <a:ext cx="2377440" cy="374904"/>
          </a:xfrm>
          <a:prstGeom prst="roundRect">
            <a:avLst/>
          </a:prstGeom>
          <a:solidFill>
            <a:srgbClr val="F8F8F9"/>
          </a:solidFill>
          <a:ln w="8890">
            <a:solidFill>
              <a:srgbClr val="F8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655064"/>
            <a:ext cx="2377440" cy="201168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A6192E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581912"/>
            <a:ext cx="2377440" cy="374904"/>
          </a:xfrm>
          <a:prstGeom prst="roundRect">
            <a:avLst/>
          </a:prstGeom>
          <a:solidFill>
            <a:srgbClr val="F8F8F9"/>
          </a:solidFill>
          <a:ln w="8890">
            <a:solidFill>
              <a:srgbClr val="F8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01568" y="1655064"/>
            <a:ext cx="2377440" cy="201168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A6192E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581912"/>
            <a:ext cx="2377440" cy="374904"/>
          </a:xfrm>
          <a:prstGeom prst="roundRect">
            <a:avLst/>
          </a:prstGeom>
          <a:solidFill>
            <a:srgbClr val="F8F8F9"/>
          </a:solidFill>
          <a:ln w="8890">
            <a:solidFill>
              <a:srgbClr val="F8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1655064"/>
            <a:ext cx="2377440" cy="201168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A6192E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3104" y="1581912"/>
            <a:ext cx="2377440" cy="374904"/>
          </a:xfrm>
          <a:prstGeom prst="roundRect">
            <a:avLst/>
          </a:prstGeom>
          <a:solidFill>
            <a:srgbClr val="F8F8F9"/>
          </a:solidFill>
          <a:ln w="8890">
            <a:solidFill>
              <a:srgbClr val="F8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33104" y="1655064"/>
            <a:ext cx="2377440" cy="201168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A6192E"/>
                </a:solidFill>
                <a:latin typeface="Aptos"/>
              </a:defRPr>
            </a:pPr>
            <a:r>
              <a:t>DATA FIXTURE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157984"/>
            <a:ext cx="2377440" cy="2103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157984"/>
            <a:ext cx="59436" cy="2103120"/>
          </a:xfrm>
          <a:prstGeom prst="rect">
            <a:avLst/>
          </a:prstGeom>
          <a:solidFill>
            <a:srgbClr val="A6192E"/>
          </a:solidFill>
          <a:ln w="8890"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2093976" cy="310896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2B3037"/>
                </a:solidFill>
                <a:latin typeface="Aptos"/>
              </a:defRPr>
            </a:pPr>
            <a:r>
              <a:t>StudentRoutes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2660904"/>
            <a:ext cx="2093976" cy="1572767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86F78"/>
                </a:solidFill>
                <a:latin typeface="Aptos"/>
              </a:defRPr>
            </a:pPr>
            <a:r>
              <a:t>+ GET /:id/profile</a:t>
            </a:r>
          </a:p>
          <a:p>
            <a:pPr>
              <a:spcAft>
                <a:spcPts val="300"/>
              </a:spcAft>
              <a:defRPr sz="1100" b="0">
                <a:solidFill>
                  <a:srgbClr val="686F78"/>
                </a:solidFill>
                <a:latin typeface="Aptos"/>
              </a:defRPr>
            </a:pPr>
            <a:r>
              <a:t>+ GET /:id/progress</a:t>
            </a:r>
          </a:p>
          <a:p>
            <a:pPr>
              <a:spcAft>
                <a:spcPts val="300"/>
              </a:spcAft>
              <a:defRPr sz="1100" b="0">
                <a:solidFill>
                  <a:srgbClr val="686F78"/>
                </a:solidFill>
                <a:latin typeface="Aptos"/>
              </a:defRPr>
            </a:pPr>
            <a:r>
              <a:t>+ GET /:id/opportunities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2157984"/>
            <a:ext cx="2377440" cy="2103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01568" y="2157984"/>
            <a:ext cx="59436" cy="2103120"/>
          </a:xfrm>
          <a:prstGeom prst="rect">
            <a:avLst/>
          </a:prstGeom>
          <a:solidFill>
            <a:srgbClr val="A6192E"/>
          </a:solidFill>
          <a:ln w="8890"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0" y="2267712"/>
            <a:ext cx="2093976" cy="310896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2B3037"/>
                </a:solidFill>
                <a:latin typeface="Aptos"/>
              </a:defRPr>
            </a:pPr>
            <a:r>
              <a:t>StudentController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660904"/>
            <a:ext cx="2093976" cy="1572767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86F78"/>
                </a:solidFill>
                <a:latin typeface="Aptos"/>
              </a:defRPr>
            </a:pPr>
            <a:r>
              <a:t>+ getProfile(req,res)</a:t>
            </a:r>
          </a:p>
          <a:p>
            <a:pPr>
              <a:spcAft>
                <a:spcPts val="300"/>
              </a:spcAft>
              <a:defRPr sz="1100" b="0">
                <a:solidFill>
                  <a:srgbClr val="686F78"/>
                </a:solidFill>
                <a:latin typeface="Aptos"/>
              </a:defRPr>
            </a:pPr>
            <a:r>
              <a:t>+ getProgress(req,res)</a:t>
            </a:r>
          </a:p>
          <a:p>
            <a:pPr>
              <a:spcAft>
                <a:spcPts val="300"/>
              </a:spcAft>
              <a:defRPr sz="1100" b="0">
                <a:solidFill>
                  <a:srgbClr val="686F78"/>
                </a:solidFill>
                <a:latin typeface="Aptos"/>
              </a:defRPr>
            </a:pPr>
            <a:r>
              <a:t>+ getOpportunities(req,res)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17336" y="2157984"/>
            <a:ext cx="2377440" cy="2103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17336" y="2157984"/>
            <a:ext cx="59436" cy="2103120"/>
          </a:xfrm>
          <a:prstGeom prst="rect">
            <a:avLst/>
          </a:prstGeom>
          <a:solidFill>
            <a:srgbClr val="A6192E"/>
          </a:solidFill>
          <a:ln w="8890"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81928" y="2267712"/>
            <a:ext cx="2093976" cy="310896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2B3037"/>
                </a:solidFill>
                <a:latin typeface="Aptos"/>
              </a:defRPr>
            </a:pPr>
            <a:r>
              <a:t>StudentService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2660904"/>
            <a:ext cx="2093976" cy="1572767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86F78"/>
                </a:solidFill>
                <a:latin typeface="Aptos"/>
              </a:defRPr>
            </a:pPr>
            <a:r>
              <a:t>+ getProfile(id)</a:t>
            </a:r>
          </a:p>
          <a:p>
            <a:pPr>
              <a:spcAft>
                <a:spcPts val="300"/>
              </a:spcAft>
              <a:defRPr sz="1100" b="0">
                <a:solidFill>
                  <a:srgbClr val="686F78"/>
                </a:solidFill>
                <a:latin typeface="Aptos"/>
              </a:defRPr>
            </a:pPr>
            <a:r>
              <a:t>+ getProgress(id)</a:t>
            </a:r>
          </a:p>
          <a:p>
            <a:pPr>
              <a:spcAft>
                <a:spcPts val="300"/>
              </a:spcAft>
              <a:defRPr sz="1100" b="0">
                <a:solidFill>
                  <a:srgbClr val="686F78"/>
                </a:solidFill>
                <a:latin typeface="Aptos"/>
              </a:defRPr>
            </a:pPr>
            <a:r>
              <a:t>+ getOpportunities(id)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33104" y="2157984"/>
            <a:ext cx="2377440" cy="2103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833104" y="2157984"/>
            <a:ext cx="59436" cy="2103120"/>
          </a:xfrm>
          <a:prstGeom prst="rect">
            <a:avLst/>
          </a:prstGeom>
          <a:solidFill>
            <a:srgbClr val="A6192E"/>
          </a:solidFill>
          <a:ln w="8890"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97696" y="2267712"/>
            <a:ext cx="2093976" cy="310896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2B3037"/>
                </a:solidFill>
                <a:latin typeface="Aptos"/>
              </a:defRPr>
            </a:pPr>
            <a:r>
              <a:t>StudentRepository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6" y="2660904"/>
            <a:ext cx="2093976" cy="1572767"/>
          </a:xfrm>
          <a:prstGeom prst="rect">
            <a:avLst/>
          </a:prstGeom>
          <a:noFill/>
        </p:spPr>
        <p:txBody>
          <a:bodyPr wrap="none" lIns="38100" tIns="13716" rIns="25400">
            <a:spAutoFit/>
          </a:bodyPr>
          <a:lstStyle/>
          <a:p>
            <a:pPr>
              <a:defRPr sz="1030"/>
            </a:pPr>
            <a:r>
              <a:rPr sz="1030"/>
              <a:t>+ findStudentById(id)</a:t>
            </a:r>
          </a:p>
          <a:p>
            <a:pPr>
              <a:defRPr sz="1030"/>
            </a:pPr>
            <a:r>
              <a:rPr sz="1030"/>
              <a:t>+ findProgramsByNames(names)</a:t>
            </a:r>
          </a:p>
          <a:p>
            <a:pPr>
              <a:defRPr sz="1030"/>
            </a:pPr>
            <a:r>
              <a:rPr sz="1030"/>
              <a:t>+ findAllPrograms()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2944368"/>
            <a:ext cx="411480" cy="25603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 algn="ctr">
              <a:spcAft>
                <a:spcPts val="300"/>
              </a:spcAft>
              <a:defRPr sz="1900" b="1">
                <a:solidFill>
                  <a:srgbClr val="A6192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9008" y="2944368"/>
            <a:ext cx="411480" cy="25603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 algn="ctr">
              <a:spcAft>
                <a:spcPts val="300"/>
              </a:spcAft>
              <a:defRPr sz="1900" b="1">
                <a:solidFill>
                  <a:srgbClr val="A6192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4776" y="2944368"/>
            <a:ext cx="411480" cy="25603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 algn="ctr">
              <a:spcAft>
                <a:spcPts val="300"/>
              </a:spcAft>
              <a:defRPr sz="1900" b="1">
                <a:solidFill>
                  <a:srgbClr val="A6192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49039" y="4599432"/>
            <a:ext cx="4690872" cy="667512"/>
          </a:xfrm>
          <a:prstGeom prst="roundRect">
            <a:avLst/>
          </a:prstGeom>
          <a:solidFill>
            <a:srgbClr val="F8F8F9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58768" y="4700016"/>
            <a:ext cx="4480560" cy="420624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 algn="ctr">
              <a:spcAft>
                <a:spcPts val="300"/>
              </a:spcAft>
              <a:defRPr sz="1600" b="1">
                <a:solidFill>
                  <a:srgbClr val="2B3037"/>
                </a:solidFill>
                <a:latin typeface="Aptos"/>
              </a:defRPr>
            </a:pPr>
            <a:r>
              <a:t>DemoData: students[] and programs[]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5128" y="4416552"/>
            <a:ext cx="1920240" cy="274320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86F78"/>
                </a:solidFill>
                <a:latin typeface="Aptos"/>
              </a:defRPr>
            </a:pPr>
            <a:r>
              <a:t>reads fixture 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" y="5742432"/>
            <a:ext cx="10652760" cy="402336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686F78"/>
                </a:solidFill>
                <a:latin typeface="Aptos"/>
              </a:defRPr>
            </a:pPr>
            <a:r>
              <a:t>The repository isolates data access. The current implementation uses fictional in-memory data; a SQL database is not connected.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6192E"/>
          </a:solidFill>
          <a:ln w="8890"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9294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A6192E"/>
                </a:solidFill>
                <a:latin typeface="Aptos"/>
              </a:defRPr>
            </a:pPr>
            <a:r>
              <a:rPr dirty="0"/>
              <a:t>PATHFINDER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3891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2B3037"/>
                </a:solidFill>
                <a:latin typeface="Aptos"/>
              </a:defRPr>
            </a:pPr>
            <a:r>
              <a:t>GitHub / 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0972800" cy="274320"/>
          </a:xfrm>
          <a:prstGeom prst="rect">
            <a:avLst/>
          </a:prstGeom>
          <a:noFill/>
        </p:spPr>
        <p:txBody>
          <a:bodyPr wrap="none" lIns="18288" tIns="13716" rIns="18288">
            <a:spAutoFit/>
          </a:bodyPr>
          <a:lstStyle/>
          <a:p>
            <a:r>
              <a:rPr sz="1300"/>
              <a:t>Presentation tier: frontend/UI/ (browser)  •  Server: Layered Architecture  •  API connection pending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409944"/>
            <a:ext cx="11018520" cy="10972"/>
          </a:xfrm>
          <a:prstGeom prst="rect">
            <a:avLst/>
          </a:prstGeom>
          <a:solidFill>
            <a:srgbClr val="DCDFE2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686F78"/>
                </a:solidFill>
                <a:latin typeface="Aptos"/>
              </a:defRPr>
            </a:pPr>
            <a:r>
              <a:t>ASSIGNMENT 5  •  OCTOBER 29,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73952"/>
            <a:ext cx="548640" cy="182880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686F78"/>
                </a:solidFill>
                <a:latin typeface="Aptos"/>
              </a:defRPr>
            </a:pPr>
            <a:r>
              <a:t>2 /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5760720" cy="4526280"/>
          </a:xfrm>
          <a:prstGeom prst="roundRect">
            <a:avLst/>
          </a:prstGeom>
          <a:solidFill>
            <a:srgbClr val="F8F8F9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819656"/>
            <a:ext cx="5358384" cy="4160520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r>
              <a:rPr sz="1400" dirty="0"/>
              <a:t>pathfinder/</a:t>
            </a:r>
          </a:p>
          <a:p>
            <a:r>
              <a:rPr sz="1400" dirty="0"/>
              <a:t>├── frontend/UI/              presentation tier (browser UI)</a:t>
            </a:r>
          </a:p>
          <a:p>
            <a:r>
              <a:rPr sz="1400" dirty="0"/>
              <a:t>└── backend/</a:t>
            </a:r>
          </a:p>
          <a:p>
            <a:r>
              <a:rPr sz="1400" dirty="0"/>
              <a:t>    ├── </a:t>
            </a:r>
            <a:r>
              <a:rPr sz="1400" dirty="0" err="1"/>
              <a:t>app.js</a:t>
            </a:r>
            <a:r>
              <a:rPr sz="1400" dirty="0"/>
              <a:t>                 Express entry point</a:t>
            </a:r>
          </a:p>
          <a:p>
            <a:r>
              <a:rPr sz="1400" dirty="0"/>
              <a:t>    ├── routes/</a:t>
            </a:r>
            <a:r>
              <a:rPr sz="1400" dirty="0" err="1"/>
              <a:t>students.js</a:t>
            </a:r>
            <a:endParaRPr sz="1400" dirty="0"/>
          </a:p>
          <a:p>
            <a:r>
              <a:rPr sz="1400" dirty="0"/>
              <a:t>    ├── controllers/</a:t>
            </a:r>
            <a:r>
              <a:rPr sz="1400" dirty="0" err="1"/>
              <a:t>studentController.js</a:t>
            </a:r>
            <a:endParaRPr sz="1400" dirty="0"/>
          </a:p>
          <a:p>
            <a:r>
              <a:rPr sz="1400" dirty="0"/>
              <a:t>    ├── services/</a:t>
            </a:r>
            <a:r>
              <a:rPr sz="1400" dirty="0" err="1"/>
              <a:t>studentService.js</a:t>
            </a:r>
            <a:endParaRPr sz="1400" dirty="0"/>
          </a:p>
          <a:p>
            <a:r>
              <a:rPr sz="1400" dirty="0"/>
              <a:t>    ├── repositories/</a:t>
            </a:r>
            <a:r>
              <a:rPr sz="1400" dirty="0" err="1"/>
              <a:t>studentRepository.js</a:t>
            </a:r>
            <a:endParaRPr sz="1400" dirty="0"/>
          </a:p>
          <a:p>
            <a:r>
              <a:rPr sz="1400" dirty="0"/>
              <a:t>    ├── data/</a:t>
            </a:r>
            <a:r>
              <a:rPr sz="1400" dirty="0" err="1"/>
              <a:t>demoData.js</a:t>
            </a:r>
            <a:endParaRPr sz="1400" dirty="0"/>
          </a:p>
          <a:p>
            <a:r>
              <a:rPr sz="1400" dirty="0"/>
              <a:t>    ├── </a:t>
            </a:r>
            <a:r>
              <a:rPr sz="1400" dirty="0" err="1"/>
              <a:t>package.json</a:t>
            </a:r>
            <a:endParaRPr sz="1400" dirty="0"/>
          </a:p>
          <a:p>
            <a:r>
              <a:rPr sz="1400" dirty="0"/>
              <a:t>    └── package-</a:t>
            </a:r>
            <a:r>
              <a:rPr sz="1400" dirty="0" err="1"/>
              <a:t>lock.json</a:t>
            </a:r>
            <a:endParaRPr sz="1400" dirty="0"/>
          </a:p>
          <a:p>
            <a:r>
              <a:rPr sz="1400" dirty="0"/>
              <a:t>tests/</a:t>
            </a:r>
            <a:r>
              <a:rPr sz="1400" dirty="0" err="1"/>
              <a:t>backend.test.js</a:t>
            </a:r>
            <a:endParaRPr sz="1400" dirty="0"/>
          </a:p>
          <a:p>
            <a:r>
              <a:rPr sz="1400" dirty="0"/>
              <a:t>docs/diagrams/assignment-05-class-diagram.md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02552" y="1664208"/>
            <a:ext cx="4818888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1773936"/>
            <a:ext cx="1389888" cy="25603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6192E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755648"/>
            <a:ext cx="3035808" cy="66751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B3037"/>
                </a:solidFill>
                <a:latin typeface="Aptos"/>
              </a:defRPr>
            </a:pPr>
            <a:r>
              <a:t>routes/ maps URLs; controllers/ handles incoming requests and JSON responses.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02552" y="2724912"/>
            <a:ext cx="4818888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85432" y="2834640"/>
            <a:ext cx="1389888" cy="25603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6192E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816352"/>
            <a:ext cx="3035808" cy="66751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B3037"/>
                </a:solidFill>
                <a:latin typeface="Aptos"/>
              </a:defRPr>
            </a:pPr>
            <a:r>
              <a:t>services/ calculates course progress, credits, and ranked opportunities.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2552" y="3785615"/>
            <a:ext cx="4818888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85432" y="3895344"/>
            <a:ext cx="1389888" cy="25603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6192E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3877055"/>
            <a:ext cx="3035808" cy="66751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B3037"/>
                </a:solidFill>
                <a:latin typeface="Aptos"/>
              </a:defRPr>
            </a:pPr>
            <a:r>
              <a:t>repositories/ is the sole access point for student and program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2552" y="4846320"/>
            <a:ext cx="4818888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85432" y="4956048"/>
            <a:ext cx="1389888" cy="25603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6192E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937759"/>
            <a:ext cx="3035808" cy="66751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2B3037"/>
                </a:solidFill>
                <a:latin typeface="Aptos"/>
              </a:defRPr>
            </a:pPr>
            <a:r>
              <a:t>data/demoData.js supplies temporary fictional fixtures instead of a database.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163056"/>
            <a:ext cx="10972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0">
                <a:solidFill>
                  <a:srgbClr val="9F1A2E"/>
                </a:solidFill>
                <a:latin typeface="Aptos"/>
              </a:defRPr>
            </a:pPr>
            <a:r>
              <a:t>HAL (FR-4): chat interface is part of the frontend; the chat API, AI integration and backend modules are planned.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6192E"/>
          </a:solidFill>
          <a:ln w="8890"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9294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A6192E"/>
                </a:solidFill>
                <a:latin typeface="Aptos"/>
              </a:defRPr>
            </a:pPr>
            <a:r>
              <a:rPr dirty="0"/>
              <a:t>PATHFINDER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3891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2B3037"/>
                </a:solidFill>
                <a:latin typeface="Aptos"/>
              </a:defRPr>
            </a:pPr>
            <a:r>
              <a:t>Feature Mapping | Request Through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0972800" cy="274320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86F78"/>
                </a:solidFill>
                <a:latin typeface="Aptos"/>
              </a:defRPr>
            </a:pPr>
            <a:r>
              <a:t>Three implemented backend endpoints  •  All three included backend tests passed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409944"/>
            <a:ext cx="11018520" cy="10972"/>
          </a:xfrm>
          <a:prstGeom prst="rect">
            <a:avLst/>
          </a:prstGeom>
          <a:solidFill>
            <a:srgbClr val="DCDFE2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686F78"/>
                </a:solidFill>
                <a:latin typeface="Aptos"/>
              </a:defRPr>
            </a:pPr>
            <a:r>
              <a:t>ASSIGNMENT 5  •  OCTOBER 29,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73952"/>
            <a:ext cx="548640" cy="182880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686F78"/>
                </a:solidFill>
                <a:latin typeface="Aptos"/>
              </a:defRPr>
            </a:pPr>
            <a:r>
              <a:t>3 /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73352"/>
            <a:ext cx="10881360" cy="1188720"/>
          </a:xfrm>
          <a:prstGeom prst="roundRect">
            <a:avLst/>
          </a:prstGeom>
          <a:solidFill>
            <a:srgbClr val="F8F8F9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01368"/>
            <a:ext cx="3200400" cy="283464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A6192E"/>
                </a:solidFill>
                <a:latin typeface="Aptos"/>
              </a:defRPr>
            </a:pPr>
            <a:r>
              <a:t>FR-3  Student Info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39696"/>
            <a:ext cx="3264408" cy="25603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B3037"/>
                </a:solidFill>
                <a:latin typeface="Aptos Mono"/>
              </a:defRPr>
            </a:pPr>
            <a:r>
              <a:rPr sz="1200"/>
              <a:t>GET /api/students/demo/profile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7096" y="1810512"/>
            <a:ext cx="7040880" cy="30175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B3037"/>
                </a:solidFill>
                <a:latin typeface="Aptos"/>
              </a:defRPr>
            </a:pPr>
            <a:r>
              <a:t>Route → Controller → Service → Repository → DemoData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7096" y="2194560"/>
            <a:ext cx="7004304" cy="48463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686F78"/>
                </a:solidFill>
                <a:latin typeface="Aptos"/>
              </a:defRPr>
            </a:pPr>
            <a:r>
              <a:t>getProfile()  —  Returns sample name, class year, declared majors/minors, school 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72384"/>
            <a:ext cx="10881360" cy="1188720"/>
          </a:xfrm>
          <a:prstGeom prst="roundRect">
            <a:avLst/>
          </a:prstGeom>
          <a:solidFill>
            <a:srgbClr val="F8F8F9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200400"/>
            <a:ext cx="3200400" cy="283464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A6192E"/>
                </a:solidFill>
                <a:latin typeface="Aptos"/>
              </a:defRPr>
            </a:pPr>
            <a:r>
              <a:rPr sz="1600"/>
              <a:t>FR-1  Progress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538728"/>
            <a:ext cx="3264408" cy="25603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B3037"/>
                </a:solidFill>
                <a:latin typeface="Aptos Mono"/>
              </a:defRPr>
            </a:pPr>
            <a:r>
              <a:rPr sz="1200"/>
              <a:t>GET /api/students/demo/progress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7096" y="3209544"/>
            <a:ext cx="7040880" cy="30175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B3037"/>
                </a:solidFill>
                <a:latin typeface="Aptos"/>
              </a:defRPr>
            </a:pPr>
            <a:r>
              <a:t>Route → Controller → Service → Repository → DemoData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7096" y="3593592"/>
            <a:ext cx="7004304" cy="48463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686F78"/>
                </a:solidFill>
                <a:latin typeface="Aptos"/>
              </a:defRPr>
            </a:pPr>
            <a:r>
              <a:t>getProgress()  —  Counts completed/remaining program requirements and earned credits.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71416"/>
            <a:ext cx="10881360" cy="1188720"/>
          </a:xfrm>
          <a:prstGeom prst="roundRect">
            <a:avLst/>
          </a:prstGeom>
          <a:solidFill>
            <a:srgbClr val="F8F8F9"/>
          </a:solidFill>
          <a:ln w="8890">
            <a:solidFill>
              <a:srgbClr val="DC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4599432"/>
            <a:ext cx="3200400" cy="283464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A6192E"/>
                </a:solidFill>
                <a:latin typeface="Aptos"/>
              </a:defRPr>
            </a:pPr>
            <a:r>
              <a:rPr sz="1600"/>
              <a:t>FR-2  Opportunity Finder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937760"/>
            <a:ext cx="3264408" cy="25603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B3037"/>
                </a:solidFill>
                <a:latin typeface="Aptos Mono"/>
              </a:defRPr>
            </a:pPr>
            <a:r>
              <a:rPr sz="1200"/>
              <a:t>GET /api/students/demo/opportunities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7096" y="4608576"/>
            <a:ext cx="7040880" cy="30175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B3037"/>
                </a:solidFill>
                <a:latin typeface="Aptos"/>
              </a:defRPr>
            </a:pPr>
            <a:r>
              <a:t>Route → Controller → Service → Repository → DemoData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7096" y="4992624"/>
            <a:ext cx="7004304" cy="484632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686F78"/>
                </a:solidFill>
                <a:latin typeface="Aptos"/>
              </a:defRPr>
            </a:pPr>
            <a:r>
              <a:t>getOpportunities()  —  Ranks up to five eligible major/minor suggestions by course overlap.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6199632"/>
            <a:ext cx="10881360" cy="182880"/>
          </a:xfrm>
          <a:prstGeom prst="rect">
            <a:avLst/>
          </a:prstGeom>
          <a:noFill/>
        </p:spPr>
        <p:txBody>
          <a:bodyPr wrap="square" lIns="18288" tIns="13716" r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86F78"/>
                </a:solidFill>
                <a:latin typeface="Aptos"/>
              </a:defRPr>
            </a:pPr>
            <a:r>
              <a:rPr sz="900"/>
              <a:t>Current scope: JSON API prototype, not yet integrated with the frontend, authentication, or a production database.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5843016"/>
            <a:ext cx="10698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9F1A2E"/>
                </a:solidFill>
                <a:latin typeface="Aptos"/>
              </a:defRPr>
            </a:pPr>
            <a:r>
              <a:rPr dirty="0"/>
              <a:t>FR-4 HAL AI Chatbot — PLANNED: chat UI → chat controller/service → academic context + external AI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520</Words>
  <Application>Microsoft Macintosh PowerPoint</Application>
  <PresentationFormat>Widescreen</PresentationFormat>
  <Paragraphs>77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Abhilasha Talwar</cp:lastModifiedBy>
  <cp:revision>2</cp:revision>
  <dcterms:created xsi:type="dcterms:W3CDTF">2013-01-27T09:14:16Z</dcterms:created>
  <dcterms:modified xsi:type="dcterms:W3CDTF">2026-10-28T22:02:31Z</dcterms:modified>
  <cp:category/>
</cp:coreProperties>
</file>